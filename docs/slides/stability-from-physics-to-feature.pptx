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c13ff5520846d2" /><Relationship Type="http://schemas.openxmlformats.org/officeDocument/2006/relationships/extended-properties" Target="/docProps/app.xml" Id="R0bfb9b28c208439a" /><Relationship Type="http://schemas.openxmlformats.org/officeDocument/2006/relationships/officeDocument" Target="/ppt/presentation.xml" Id="R863f6c6fe0f642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291809f46c4f36"/>
  </p:sldMasterIdLst>
  <p:notesMasterIdLst>
    <p:notesMasterId xmlns:r="http://schemas.openxmlformats.org/officeDocument/2006/relationships" r:id="Rdf587f936c274ef5"/>
  </p:notesMasterIdLst>
  <p:sldIdLst>
    <p:sldId xmlns:r="http://schemas.openxmlformats.org/officeDocument/2006/relationships" id="256" r:id="R06a37342a5d94aba"/>
    <p:sldId xmlns:r="http://schemas.openxmlformats.org/officeDocument/2006/relationships" id="257" r:id="R48e18a1451a74bfb"/>
    <p:sldId xmlns:r="http://schemas.openxmlformats.org/officeDocument/2006/relationships" id="258" r:id="Rd3520363f3d64ab3"/>
    <p:sldId xmlns:r="http://schemas.openxmlformats.org/officeDocument/2006/relationships" id="259" r:id="Rbdadbd6b106448bf"/>
    <p:sldId xmlns:r="http://schemas.openxmlformats.org/officeDocument/2006/relationships" id="260" r:id="Rb0efe7b9e11e4d90"/>
    <p:sldId xmlns:r="http://schemas.openxmlformats.org/officeDocument/2006/relationships" id="261" r:id="R4954d997283347ff"/>
    <p:sldId xmlns:r="http://schemas.openxmlformats.org/officeDocument/2006/relationships" id="262" r:id="R118efe7681e54577"/>
    <p:sldId xmlns:r="http://schemas.openxmlformats.org/officeDocument/2006/relationships" id="263" r:id="Rc771188f10384839"/>
    <p:sldId xmlns:r="http://schemas.openxmlformats.org/officeDocument/2006/relationships" id="264" r:id="R3733bb4f8f684571"/>
    <p:sldId xmlns:r="http://schemas.openxmlformats.org/officeDocument/2006/relationships" id="265" r:id="R470874ae961f43fd"/>
    <p:sldId xmlns:r="http://schemas.openxmlformats.org/officeDocument/2006/relationships" id="266" r:id="R6d8496a15b384a6b"/>
    <p:sldId xmlns:r="http://schemas.openxmlformats.org/officeDocument/2006/relationships" id="267" r:id="Rfbe7e3b16fad4bb7"/>
    <p:sldId xmlns:r="http://schemas.openxmlformats.org/officeDocument/2006/relationships" id="268" r:id="R3b7fe51f348d4fd4"/>
    <p:sldId xmlns:r="http://schemas.openxmlformats.org/officeDocument/2006/relationships" id="269" r:id="R79f485c4b53442b3"/>
    <p:sldId xmlns:r="http://schemas.openxmlformats.org/officeDocument/2006/relationships" id="270" r:id="R550c4a07a1f44fac"/>
    <p:sldId xmlns:r="http://schemas.openxmlformats.org/officeDocument/2006/relationships" id="271" r:id="Rceedaeede5a84263"/>
    <p:sldId xmlns:r="http://schemas.openxmlformats.org/officeDocument/2006/relationships" id="272" r:id="R79ffd7cdbfd64535"/>
    <p:sldId xmlns:r="http://schemas.openxmlformats.org/officeDocument/2006/relationships" id="273" r:id="R7287d1b240c844fe"/>
    <p:sldId xmlns:r="http://schemas.openxmlformats.org/officeDocument/2006/relationships" id="274" r:id="R526f5c8128fc4259"/>
    <p:sldId xmlns:r="http://schemas.openxmlformats.org/officeDocument/2006/relationships" id="275" r:id="R7440bdef4d2c4415"/>
    <p:sldId xmlns:r="http://schemas.openxmlformats.org/officeDocument/2006/relationships" id="276" r:id="Rce0b5a303cf04146"/>
    <p:sldId xmlns:r="http://schemas.openxmlformats.org/officeDocument/2006/relationships" id="277" r:id="R803b79d62ea344cc"/>
    <p:sldId xmlns:r="http://schemas.openxmlformats.org/officeDocument/2006/relationships" id="278" r:id="R48ad5b7e278d40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89f0f2286f48f6" /><Relationship Type="http://schemas.openxmlformats.org/officeDocument/2006/relationships/slideMaster" Target="/ppt/slideMasters/slideMaster1.xml" Id="R33291809f46c4f36" /><Relationship Type="http://schemas.openxmlformats.org/officeDocument/2006/relationships/notesMaster" Target="/ppt/notesMasters/notesMaster1.xml" Id="Rdf587f936c274ef5" /><Relationship Type="http://schemas.openxmlformats.org/officeDocument/2006/relationships/presProps" Target="/ppt/presProps.xml" Id="R5f6f977a980a4e0f" /><Relationship Type="http://schemas.openxmlformats.org/officeDocument/2006/relationships/tableStyles" Target="/ppt/tableStyles.xml" Id="Rc08786b8561345e7" /><Relationship Type="http://schemas.openxmlformats.org/officeDocument/2006/relationships/slide" Target="/ppt/slides/slide1.xml" Id="R06a37342a5d94aba" /><Relationship Type="http://schemas.openxmlformats.org/officeDocument/2006/relationships/slide" Target="/ppt/slides/slide2.xml" Id="R48e18a1451a74bfb" /><Relationship Type="http://schemas.openxmlformats.org/officeDocument/2006/relationships/slide" Target="/ppt/slides/slide3.xml" Id="Rd3520363f3d64ab3" /><Relationship Type="http://schemas.openxmlformats.org/officeDocument/2006/relationships/slide" Target="/ppt/slides/slide4.xml" Id="Rbdadbd6b106448bf" /><Relationship Type="http://schemas.openxmlformats.org/officeDocument/2006/relationships/slide" Target="/ppt/slides/slide5.xml" Id="Rb0efe7b9e11e4d90" /><Relationship Type="http://schemas.openxmlformats.org/officeDocument/2006/relationships/slide" Target="/ppt/slides/slide6.xml" Id="R4954d997283347ff" /><Relationship Type="http://schemas.openxmlformats.org/officeDocument/2006/relationships/slide" Target="/ppt/slides/slide7.xml" Id="R118efe7681e54577" /><Relationship Type="http://schemas.openxmlformats.org/officeDocument/2006/relationships/slide" Target="/ppt/slides/slide8.xml" Id="Rc771188f10384839" /><Relationship Type="http://schemas.openxmlformats.org/officeDocument/2006/relationships/slide" Target="/ppt/slides/slide9.xml" Id="R3733bb4f8f684571" /><Relationship Type="http://schemas.openxmlformats.org/officeDocument/2006/relationships/slide" Target="/ppt/slides/slide10.xml" Id="R470874ae961f43fd" /><Relationship Type="http://schemas.openxmlformats.org/officeDocument/2006/relationships/slide" Target="/ppt/slides/slide11.xml" Id="R6d8496a15b384a6b" /><Relationship Type="http://schemas.openxmlformats.org/officeDocument/2006/relationships/slide" Target="/ppt/slides/slide12.xml" Id="Rfbe7e3b16fad4bb7" /><Relationship Type="http://schemas.openxmlformats.org/officeDocument/2006/relationships/slide" Target="/ppt/slides/slide13.xml" Id="R3b7fe51f348d4fd4" /><Relationship Type="http://schemas.openxmlformats.org/officeDocument/2006/relationships/slide" Target="/ppt/slides/slide14.xml" Id="R79f485c4b53442b3" /><Relationship Type="http://schemas.openxmlformats.org/officeDocument/2006/relationships/slide" Target="/ppt/slides/slide15.xml" Id="R550c4a07a1f44fac" /><Relationship Type="http://schemas.openxmlformats.org/officeDocument/2006/relationships/slide" Target="/ppt/slides/slide16.xml" Id="Rceedaeede5a84263" /><Relationship Type="http://schemas.openxmlformats.org/officeDocument/2006/relationships/slide" Target="/ppt/slides/slide17.xml" Id="R79ffd7cdbfd64535" /><Relationship Type="http://schemas.openxmlformats.org/officeDocument/2006/relationships/slide" Target="/ppt/slides/slide18.xml" Id="R7287d1b240c844fe" /><Relationship Type="http://schemas.openxmlformats.org/officeDocument/2006/relationships/slide" Target="/ppt/slides/slide19.xml" Id="R526f5c8128fc4259" /><Relationship Type="http://schemas.openxmlformats.org/officeDocument/2006/relationships/slide" Target="/ppt/slides/slide20.xml" Id="R7440bdef4d2c4415" /><Relationship Type="http://schemas.openxmlformats.org/officeDocument/2006/relationships/slide" Target="/ppt/slides/slide21.xml" Id="Rce0b5a303cf04146" /><Relationship Type="http://schemas.openxmlformats.org/officeDocument/2006/relationships/slide" Target="/ppt/slides/slide22.xml" Id="R803b79d62ea344cc" /><Relationship Type="http://schemas.openxmlformats.org/officeDocument/2006/relationships/slide" Target="/ppt/slides/slide23.xml" Id="R48ad5b7e278d40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6eea5566fd48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7d891b1e424544" /><Relationship Type="http://schemas.openxmlformats.org/officeDocument/2006/relationships/notesMaster" Target="/ppt/notesMasters/notesMaster1.xml" Id="R0dfec8199bec4f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75415a5dc74c7f" /><Relationship Type="http://schemas.openxmlformats.org/officeDocument/2006/relationships/notesMaster" Target="/ppt/notesMasters/notesMaster1.xml" Id="Rf323a721f6e048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e2fa3ee7a74170" /><Relationship Type="http://schemas.openxmlformats.org/officeDocument/2006/relationships/notesMaster" Target="/ppt/notesMasters/notesMaster1.xml" Id="Rfb274941ce6d4d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d6b60f4c0d4fa2" /><Relationship Type="http://schemas.openxmlformats.org/officeDocument/2006/relationships/notesMaster" Target="/ppt/notesMasters/notesMaster1.xml" Id="R5eeadb8b4eb240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e1ffd0168c41ca" /><Relationship Type="http://schemas.openxmlformats.org/officeDocument/2006/relationships/notesMaster" Target="/ppt/notesMasters/notesMaster1.xml" Id="Rf960e571ad1343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87988a64344e5d" /><Relationship Type="http://schemas.openxmlformats.org/officeDocument/2006/relationships/notesMaster" Target="/ppt/notesMasters/notesMaster1.xml" Id="R9aebca1cca1a4e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e7668e938f441c" /><Relationship Type="http://schemas.openxmlformats.org/officeDocument/2006/relationships/notesMaster" Target="/ppt/notesMasters/notesMaster1.xml" Id="R850cd2c0155d4b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abd1c7592a43c7" /><Relationship Type="http://schemas.openxmlformats.org/officeDocument/2006/relationships/notesMaster" Target="/ppt/notesMasters/notesMaster1.xml" Id="R48c578d215854d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e75d8abdee49e0" /><Relationship Type="http://schemas.openxmlformats.org/officeDocument/2006/relationships/notesMaster" Target="/ppt/notesMasters/notesMaster1.xml" Id="R200c283a508d44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6cf726efe64e93" /><Relationship Type="http://schemas.openxmlformats.org/officeDocument/2006/relationships/notesMaster" Target="/ppt/notesMasters/notesMaster1.xml" Id="R5d62aef77e1149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4d277bbe514d9f" /><Relationship Type="http://schemas.openxmlformats.org/officeDocument/2006/relationships/notesMaster" Target="/ppt/notesMasters/notesMaster1.xml" Id="Rfc062ed6ef174e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009e180333f4772" /><Relationship Type="http://schemas.openxmlformats.org/officeDocument/2006/relationships/notesMaster" Target="/ppt/notesMasters/notesMaster1.xml" Id="Rb9498a36b00443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4780c1628834d70" /><Relationship Type="http://schemas.openxmlformats.org/officeDocument/2006/relationships/notesMaster" Target="/ppt/notesMasters/notesMaster1.xml" Id="Rf5c882fe83f642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d60184bc6bc4fea" /><Relationship Type="http://schemas.openxmlformats.org/officeDocument/2006/relationships/notesMaster" Target="/ppt/notesMasters/notesMaster1.xml" Id="R372b3de102e940b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d2fa0e064924f36" /><Relationship Type="http://schemas.openxmlformats.org/officeDocument/2006/relationships/notesMaster" Target="/ppt/notesMasters/notesMaster1.xml" Id="R2f15d8bfe5b04e1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16fe6360544b9a" /><Relationship Type="http://schemas.openxmlformats.org/officeDocument/2006/relationships/notesMaster" Target="/ppt/notesMasters/notesMaster1.xml" Id="Re602787f756d41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287c210c52e4ef9" /><Relationship Type="http://schemas.openxmlformats.org/officeDocument/2006/relationships/notesMaster" Target="/ppt/notesMasters/notesMaster1.xml" Id="R590f224f956242f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e0f701034954a8a" /><Relationship Type="http://schemas.openxmlformats.org/officeDocument/2006/relationships/notesMaster" Target="/ppt/notesMasters/notesMaster1.xml" Id="R1d46c696b5d0400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02cb85bb0cf4a76" /><Relationship Type="http://schemas.openxmlformats.org/officeDocument/2006/relationships/notesMaster" Target="/ppt/notesMasters/notesMaster1.xml" Id="R72a034486b134c9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a6d62dfc14f4187" /><Relationship Type="http://schemas.openxmlformats.org/officeDocument/2006/relationships/notesMaster" Target="/ppt/notesMasters/notesMaster1.xml" Id="R7ec67030b25049e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f75e639751f457f" /><Relationship Type="http://schemas.openxmlformats.org/officeDocument/2006/relationships/notesMaster" Target="/ppt/notesMasters/notesMaster1.xml" Id="Rd1f3e9ae31d44d2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dd5e889d5d64531" /><Relationship Type="http://schemas.openxmlformats.org/officeDocument/2006/relationships/notesMaster" Target="/ppt/notesMasters/notesMaster1.xml" Id="R4d3d09fa1a454cb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9f3b0476ff54c7f" /><Relationship Type="http://schemas.openxmlformats.org/officeDocument/2006/relationships/notesMaster" Target="/ppt/notesMasters/notesMaster1.xml" Id="R2e2b7d2515e040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payload-moving-aft mission scenario. Do not define stability yet; ask what evidence students would need.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https://www.faa.gov/regulations_policies/handbooks_manuals/aviation/phak</a:t>
            </a:r>
          </a:p>
          <a:p xmlns:a="http://schemas.openxmlformats.org/drawingml/2006/main">
            <a:r>
              <a:t>- https://ntrs.nasa.gov/api/citations/19780017135/downloads/19780017135.pdf</a:t>
            </a:r>
          </a:p>
          <a:p xmlns:a="http://schemas.openxmlformats.org/drawingml/2006/main">
            <a:r>
              <a:t>- Local: templates/FEATURE-SPEC.md; examples/stability-unit/README.md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https://www.faa.gov/regulations_policies/handbooks_manuals/aviation/phak</a:t>
            </a:r>
          </a:p>
          <a:p xmlns:a="http://schemas.openxmlformats.org/drawingml/2006/main">
            <a:r>
              <a:t>- https://ntrs.nasa.gov/api/citations/19780017135/downloads/19780017135.pdf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templates/FEATURE-SPEC.md; examples/stability-unit/README.md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templates/FEATURE-SPEC.md; examples/stability-unit/README.md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https://www.faa.gov/regulations_policies/handbooks_manuals/aviation/phak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https://ntrs.nasa.gov/api/citations/19780017135/downloads/19780017135.pdf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templates/FEATURE-SPEC.md; examples/stability-unit/README.md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https://ntrs.nasa.gov/api/citations/19780017135/downloads/19780017135.pdf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https://ntrs.nasa.gov/api/citations/19780017135/downloads/19780017135.pdf</a:t>
            </a:r>
          </a:p>
          <a:p xmlns:a="http://schemas.openxmlformats.org/drawingml/2006/main">
            <a:r>
              <a:t>- Local: templates/FEATURE-SPEC.md; examples/stability-unit/README.md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templates/FEATURE-SPEC.md; examples/stability-unit/README.md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https://www.faa.gov/regulationspolicies/handbooksmanuals/aviation/phak/chapter-10-weight-and-balance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https://www.faa.gov/regulationspolicies/handbooksmanuals/aviation/phak/chapter-10-weight-and-balance</a:t>
            </a:r>
          </a:p>
          <a:p xmlns:a="http://schemas.openxmlformats.org/drawingml/2006/main">
            <a:r>
              <a:t>- Local: templates/FEATURE-SPEC.md; examples/stability-unit/README.md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templates/FEATURE-SPEC.md; examples/stability-unit/README.md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https://www.faa.gov/regulations_policies/handbooks_manuals/aviation/phak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templates/FEATURE-SPEC.md; examples/stability-unit/README.md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templates/FEATURE-SPEC.md; examples/stability-unit/README.md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templates/FEATURE-SPEC.md; examples/stability-unit/README.md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https://www.faa.gov/regulationspolicies/handbooksmanuals/aviation/phak/chapter-10-weight-and-balance</a:t>
            </a:r>
          </a:p>
          <a:p xmlns:a="http://schemas.openxmlformats.org/drawingml/2006/main">
            <a:r>
              <a:t>- https://ntrs.nasa.gov/api/citations/19780017135/downloads/19780017135.pdf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https://www.faa.gov/regulationspolicies/handbooksmanuals/aviation/phak/chapter-10-weight-and-balance</a:t>
            </a:r>
          </a:p>
          <a:p xmlns:a="http://schemas.openxmlformats.org/drawingml/2006/main">
            <a:r>
              <a:t>- https://www.faa.gov/regulations_policies/handbooks_manuals/aviation/phak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templates/FEATURE-SPEC.md; examples/stability-unit/README.md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templates/FEATURE-SPEC.md; examples/stability-unit/README.md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templates/FEATURE-SPEC.md; examples/stability-unit/README.md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https://www.faa.gov/regulationspolicies/handbooksmanuals/aviation/phak/chapter-10-weight-and-balance</a:t>
            </a:r>
          </a:p>
          <a:p xmlns:a="http://schemas.openxmlformats.org/drawingml/2006/main">
            <a:r>
              <a:t>- https://ntrs.nasa.gov/api/citations/19780017135/downloads/19780017135.pdf</a:t>
            </a:r>
          </a:p>
          <a:p xmlns:a="http://schemas.openxmlformats.org/drawingml/2006/main">
            <a:r>
              <a:t>- Local: templates/FEATURE-SPEC.md; examples/stability-unit/README.md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5b4ad3edd84d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5ea64c9bcc427c" /><Relationship Type="http://schemas.openxmlformats.org/officeDocument/2006/relationships/slideLayout" Target="/ppt/slideLayouts/slideLayout1.xml" Id="R467c3dd1473b41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7c3dd1473b41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b01f2e110460b" /><Relationship Type="http://schemas.openxmlformats.org/officeDocument/2006/relationships/notesSlide" Target="/ppt/notesSlides/notesSlide1.xml" Id="R5bc11480c38f46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2ff06a352498b" /><Relationship Type="http://schemas.openxmlformats.org/officeDocument/2006/relationships/notesSlide" Target="/ppt/notesSlides/notesSlide2.xml" Id="R6073b0b3310d47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b7ab30e8e46e3" /><Relationship Type="http://schemas.openxmlformats.org/officeDocument/2006/relationships/notesSlide" Target="/ppt/notesSlides/notesSlide3.xml" Id="R0f4d441547fa41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c04e602e24b33" /><Relationship Type="http://schemas.openxmlformats.org/officeDocument/2006/relationships/notesSlide" Target="/ppt/notesSlides/notesSlide4.xml" Id="R11685df8f5c542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92615bfd94ab0" /><Relationship Type="http://schemas.openxmlformats.org/officeDocument/2006/relationships/notesSlide" Target="/ppt/notesSlides/notesSlide5.xml" Id="R478eb254685342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58d8586ec45e9" /><Relationship Type="http://schemas.openxmlformats.org/officeDocument/2006/relationships/chart" Target="/ppt/slides/charts/chart1.xml" Id="R3252d70a271e4c6b" /><Relationship Type="http://schemas.openxmlformats.org/officeDocument/2006/relationships/notesSlide" Target="/ppt/notesSlides/notesSlide6.xml" Id="R5159c54a66664d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12e9471fb44f2" /><Relationship Type="http://schemas.openxmlformats.org/officeDocument/2006/relationships/notesSlide" Target="/ppt/notesSlides/notesSlide7.xml" Id="R1130e8d536d94f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60cec4c234a78" /><Relationship Type="http://schemas.openxmlformats.org/officeDocument/2006/relationships/notesSlide" Target="/ppt/notesSlides/notesSlide8.xml" Id="Rb81ab06b7dd541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8dfe87dcd47ab" /><Relationship Type="http://schemas.openxmlformats.org/officeDocument/2006/relationships/chart" Target="/ppt/slides/charts/chart2.xml" Id="R91484d6d9c8a49ec" /><Relationship Type="http://schemas.openxmlformats.org/officeDocument/2006/relationships/notesSlide" Target="/ppt/notesSlides/notesSlide9.xml" Id="Ra3d124dcd5ab48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482951922473e" /><Relationship Type="http://schemas.openxmlformats.org/officeDocument/2006/relationships/notesSlide" Target="/ppt/notesSlides/notesSlide10.xml" Id="R08ca6573e5e342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26b86249d433b" /><Relationship Type="http://schemas.openxmlformats.org/officeDocument/2006/relationships/notesSlide" Target="/ppt/notesSlides/notesSlide11.xml" Id="R9ad4019d3ccc4d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5469c480141b7" /><Relationship Type="http://schemas.openxmlformats.org/officeDocument/2006/relationships/notesSlide" Target="/ppt/notesSlides/notesSlide12.xml" Id="R0620fd5972bb46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6b46d509f40df" /><Relationship Type="http://schemas.openxmlformats.org/officeDocument/2006/relationships/notesSlide" Target="/ppt/notesSlides/notesSlide13.xml" Id="R37cad10489684e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2ffa2a1fa438d" /><Relationship Type="http://schemas.openxmlformats.org/officeDocument/2006/relationships/notesSlide" Target="/ppt/notesSlides/notesSlide14.xml" Id="Rd818c47bc48946f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183386b5e4d92" /><Relationship Type="http://schemas.openxmlformats.org/officeDocument/2006/relationships/chart" Target="/ppt/slides/charts/chart3.xml" Id="R7ec8653d821f4781" /><Relationship Type="http://schemas.openxmlformats.org/officeDocument/2006/relationships/notesSlide" Target="/ppt/notesSlides/notesSlide15.xml" Id="R196a552808874d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2ad6279cd47f1" /><Relationship Type="http://schemas.openxmlformats.org/officeDocument/2006/relationships/notesSlide" Target="/ppt/notesSlides/notesSlide16.xml" Id="R1fc57c9257054a7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fc199ae794604" /><Relationship Type="http://schemas.openxmlformats.org/officeDocument/2006/relationships/notesSlide" Target="/ppt/notesSlides/notesSlide17.xml" Id="R042c8596cb3743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0eb4115744fe4" /><Relationship Type="http://schemas.openxmlformats.org/officeDocument/2006/relationships/notesSlide" Target="/ppt/notesSlides/notesSlide18.xml" Id="Rcfac1eb86556494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5763b2a254112" /><Relationship Type="http://schemas.openxmlformats.org/officeDocument/2006/relationships/notesSlide" Target="/ppt/notesSlides/notesSlide19.xml" Id="R54e693d8496446a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bae801d384db1" /><Relationship Type="http://schemas.openxmlformats.org/officeDocument/2006/relationships/notesSlide" Target="/ppt/notesSlides/notesSlide20.xml" Id="Rc277db7c502b463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6c7aef57a4c2a" /><Relationship Type="http://schemas.openxmlformats.org/officeDocument/2006/relationships/notesSlide" Target="/ppt/notesSlides/notesSlide21.xml" Id="Rc7d03a5ccdf141e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29095af0141f7" /><Relationship Type="http://schemas.openxmlformats.org/officeDocument/2006/relationships/notesSlide" Target="/ppt/notesSlides/notesSlide22.xml" Id="R80c4eed50cb3435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2667b11dd4249" /><Relationship Type="http://schemas.openxmlformats.org/officeDocument/2006/relationships/notesSlide" Target="/ppt/notesSlides/notesSlide23.xml" Id="Rf1cbaf60aa3147f5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Cm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5"/>
              <c:pt idx="0">
                <c:v>−2°</c:v>
              </c:pt>
              <c:pt idx="1">
                <c:v>0°</c:v>
              </c:pt>
              <c:pt idx="2">
                <c:v>2.86°</c:v>
              </c:pt>
              <c:pt idx="3">
                <c:v>5°</c:v>
              </c:pt>
              <c:pt idx="4">
                <c:v>8°</c:v>
              </c:pt>
            </c:strLit>
          </c:cat>
          <c:val>
            <c:numLit>
              <c:formatCode>0.00</c:formatCode>
              <c:ptCount val="5"/>
              <c:pt idx="0">
                <c:v>0.068</c:v>
              </c:pt>
              <c:pt idx="1">
                <c:v>0.04</c:v>
              </c:pt>
              <c:pt idx="2">
                <c:v>0</c:v>
              </c:pt>
              <c:pt idx="3">
                <c:v>-0.03</c:v>
              </c:pt>
              <c:pt idx="4">
                <c:v>-0.072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Angle of attack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08"/>
          <c:min val="-0.08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Pitching-moment coefficient</a:t>
                </a:r>
              </a:p>
            </c:rich>
          </c:tx>
          <c:overlay val="0"/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04"/>
      </c:valAx>
    </c:plotArea>
    <c:plotVisOnly val="1"/>
  </c:chart>
  <c:spPr>
    <a:ln xmlns:a="http://schemas.openxmlformats.org/drawingml/2006/main" w="9525">
      <a:solidFill>
        <a:srgbClr val="B8BCC4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Static margin</c:v>
          </c:tx>
          <c:spPr>
            <a:ln xmlns:a="http://schemas.openxmlformats.org/drawingml/2006/main" w="38100">
              <a:solidFill>
                <a:srgbClr val="FF5A36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5A36"/>
              </a:solidFill>
            </c:spPr>
          </c:marker>
          <c:cat>
            <c:numLit>
              <c:formatCode>General</c:formatCode>
              <c:ptCount val="4"/>
              <c:pt idx="0">
                <c:v>0.08</c:v>
              </c:pt>
              <c:pt idx="1">
                <c:v>0.12</c:v>
              </c:pt>
              <c:pt idx="2">
                <c:v>0.16</c:v>
              </c:pt>
              <c:pt idx="3">
                <c:v>0.18</c:v>
              </c:pt>
            </c:numLit>
          </c:cat>
          <c:val>
            <c:numLit>
              <c:formatCode>0.00</c:formatCode>
              <c:ptCount val="4"/>
              <c:pt idx="0">
                <c:v>0.25</c:v>
              </c:pt>
              <c:pt idx="1">
                <c:v>0.125</c:v>
              </c:pt>
              <c:pt idx="2">
                <c:v>0</c:v>
              </c:pt>
              <c:pt idx="3">
                <c:v>-0.0625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CG location, m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3"/>
          <c:min val="-0.1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Static margin</a:t>
                </a:r>
              </a:p>
            </c:rich>
          </c:tx>
          <c:overlay val="0"/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1"/>
      </c:valAx>
    </c:plotArea>
    <c:plotVisOnly val="1"/>
  </c:chart>
  <c:spPr>
    <a:ln xmlns:a="http://schemas.openxmlformats.org/drawingml/2006/main" w="9525">
      <a:solidFill>
        <a:srgbClr val="B8BCC4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Amplitude envelope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3D8DFF"/>
              </a:solidFill>
            </c:spPr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</c:numLit>
          </c:cat>
          <c:val>
            <c:numLit>
              <c:formatCode>0.0</c:formatCode>
              <c:ptCount val="6"/>
              <c:pt idx="0">
                <c:v>1</c:v>
              </c:pt>
              <c:pt idx="1">
                <c:v>0.549</c:v>
              </c:pt>
              <c:pt idx="2">
                <c:v>0.301</c:v>
              </c:pt>
              <c:pt idx="3">
                <c:v>0.165</c:v>
              </c:pt>
              <c:pt idx="4">
                <c:v>0.091</c:v>
              </c:pt>
              <c:pt idx="5">
                <c:v>0.05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Time, 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Relative amplitude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2"/>
      </c:valAx>
    </c:plotArea>
    <c:plotVisOnly val="1"/>
  </c:chart>
  <c:spPr>
    <a:ln xmlns:a="http://schemas.openxmlformats.org/drawingml/2006/main" w="9525">
      <a:solidFill>
        <a:srgbClr val="B8BCC4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4F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29370-B2A2-46FA-BB79-23BCDF88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E9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CE9AD"/>
                </a:solidFill>
                <a:latin typeface="Helvetica Neue"/>
                <a:ea typeface="Helvetica Neue"/>
                <a:cs typeface="Helvetica Neue"/>
              </a:rPr>
              <a:t>INTRODUCTION TO AEROSPACE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F31E2-DAC1-45DC-B05F-3CD0A471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810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Stability:</a:t>
            </a:r>
          </a:p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from physics</a:t>
            </a:r>
          </a:p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to a verified feature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0421C-43EB-4BB0-B23B-1EFA937A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CE9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CE9AD"/>
                </a:solidFill>
                <a:latin typeface="Helvetica Neue"/>
                <a:ea typeface="Helvetica Neue"/>
                <a:cs typeface="Helvetica Neue"/>
              </a:rPr>
              <a:t>Five engineering blocks. Five bounded implementations. One mission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15D64-4DE6-4A8D-92D5-C8DFD32A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0"/>
            <a:ext cx="2952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5BAD5-8F23-49FF-85D8-76F983EE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192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rPr>
              <a:t>RESTORE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83778-3D01-4B56-8FD6-BA35603A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rPr>
              <a:t>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092C9-D4CD-4C33-97CD-63BFE1B2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957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DECIDE</a:t>
            </a:r>
          </a:p>
        </p:txBody>
      </p:sp>
    </p:spTree>
    <p:extLst>
      <p:ext uri="{BB962C8B-B14F-4D97-AF65-F5344CB8AC3E}">
        <p14:creationId xmlns:p14="http://schemas.microsoft.com/office/powerpoint/2010/main" val="19894030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7C9317-0DC6-49ED-B548-F47A60EA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CENTRAL 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497B2-71D1-46EA-8294-CA93C51B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More stability is not automatically better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32545-E558-4101-8C57-173E4B7E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0C97A-98F8-4526-ABB3-4719A3C7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5BDD6-04DD-4CD3-A45E-5872B6F1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057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84B06-E1F6-4111-88BA-3DFE35DD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26062-EEA5-4165-8C3C-060D3F5E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rPr>
              <a:t>RESTORING TENDENCY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4D2B6-6EFB-4EC2-B990-24F887FA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38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10CA3-7584-4AEB-88E4-D53AFF1F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47662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CONTROL 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CB5A1-0C3D-45F3-9189-3AFF25DC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38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E58E35-B1F8-48C6-A553-A417D3C1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47662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MANEUVERABILITY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26307-3DE4-45F8-9A14-0A9BCA11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38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2C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AD0CB0-D349-480C-B2AC-F3FC5676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7662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2C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A62C22"/>
                </a:solidFill>
                <a:latin typeface="Helvetica Neue"/>
                <a:ea typeface="Helvetica Neue"/>
                <a:cs typeface="Helvetica Neue"/>
              </a:rPr>
              <a:t>WORKLOAD + MISSION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1DC612-57ED-4F4A-B3B4-FD31BD1E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27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A design decision must balance the whole response—not maximize one metric.</a:t>
            </a:r>
          </a:p>
        </p:txBody>
      </p:sp>
    </p:spTree>
    <p:extLst>
      <p:ext uri="{BB962C8B-B14F-4D97-AF65-F5344CB8AC3E}">
        <p14:creationId xmlns:p14="http://schemas.microsoft.com/office/powerpoint/2010/main" val="6865536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E1EC62-0423-42F1-8536-8A5AC5B0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LEARNING PROGRESSION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2A9E8-5CE3-4AC2-B153-ADE14A91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The unit builds one decision across five blocks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96FD1-BB06-4505-9EA1-FDAC3DFD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1A8BB-74B8-4305-9CF8-087C0CEE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8D1E7-5025-4BB0-9C72-EEDEC8C4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1905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3BF5D-CD93-45EE-BE0D-3565DAE4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CCB07-F0EF-476A-BDA9-34077B2C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562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Disturbance, trim, response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C3480-457B-4CD0-A421-E82CC576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33625"/>
            <a:ext cx="1905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2D58B-6B73-494C-8C41-8E510946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2412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23039-B96E-4889-97CC-459C1B8D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43250"/>
            <a:ext cx="1562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Longitudinal static stability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432B7-6F0E-49E0-86D1-2C77E441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33625"/>
            <a:ext cx="1905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EFA9B9-578D-4105-82E3-A229E260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2412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EAA5E0-B521-4AD6-BDC9-5CA602C9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43250"/>
            <a:ext cx="1562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CG, static margin, loading limits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AAC144-5330-488A-B10B-AD4F33CA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33625"/>
            <a:ext cx="1905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8C2B76-F83D-472E-8B4E-9816E8B6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2412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EAF033-3A1F-4155-88BD-0110A222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43250"/>
            <a:ext cx="1562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Lateral-directional dynamics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7861C-6F18-4A30-94B1-44ECE032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33625"/>
            <a:ext cx="1905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A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C2EEB9-B797-4D83-9CAC-99789F78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2412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E63668-9074-4927-928E-59191D7F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43250"/>
            <a:ext cx="1562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5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Payload moves aft: mission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65BA34-D417-4525-84EE-D952A9EF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00625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Each block adds a tested capability to the same aircraft model.</a:t>
            </a:r>
          </a:p>
        </p:txBody>
      </p:sp>
    </p:spTree>
    <p:extLst>
      <p:ext uri="{BB962C8B-B14F-4D97-AF65-F5344CB8AC3E}">
        <p14:creationId xmlns:p14="http://schemas.microsoft.com/office/powerpoint/2010/main" val="20413978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A31555-2664-45F5-A2CA-9618E3CC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ENGINEERING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A40DFD-E8C7-4050-BD61-39C1C9F3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The implementation starts before ChatGPT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97537-06E2-47E7-93D3-7C199847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9BBEE-31B7-4C8C-A16C-6161CB3E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CF11D-B89F-47B9-AE81-EEDEF8B5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9288F-62B0-472B-BECA-C6074327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73D31-4AB2-4425-98BA-67DB40FC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366712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23DE9-D0FC-49DE-8C83-35C95F56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895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2C21C-91E3-4E8B-BA03-36A7B7FB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67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2C655-D733-4F19-9AA7-64258765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8384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EF228-E399-4747-9EF4-12EA87DA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66712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CF795-1E6C-4957-8D23-61DAC48E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90850"/>
            <a:ext cx="895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288C9D-2E22-4F4C-8727-2A01D487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67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215F1-7811-44B1-BEB6-AAD61CAD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384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A360A7-7737-4F35-9AEF-7B7D23B3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66712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BEHAVIOR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3570B-A60B-493F-87D3-C90C4BEB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90850"/>
            <a:ext cx="895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E2AFB5-4FBD-45D3-BEB0-751653E9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DB7C1-BC6E-43DD-BCFA-EEDE60E7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384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625283-BE6E-457A-BAFC-0F5B6694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6712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909EC0-2B93-414D-BA53-E9475B6D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895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944EA0-6AFC-49EC-A1E4-BDC341D7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67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99F8FA-C629-4033-B832-9D7F1E6E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384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6CD086-EDBF-43DB-9AA1-48356164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66712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SPECIFY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3614F3-763A-4F62-9D39-31FB9951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90850"/>
            <a:ext cx="895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899338-8CB0-4284-B612-0DCA627B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BA0012-8F1D-41FF-8706-8BDF3159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C11058-60B2-422D-B5F7-044393DA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66712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GENERATE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83208E-5E11-404B-A613-4F4B200E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90850"/>
            <a:ext cx="895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1C725C-969C-4A0A-8858-E4F0B01E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67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AD9672-B483-40BB-92D2-C8538364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384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227DDE-7164-45F9-B0FA-DFF5FB9B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66712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DECIDE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C79316-45DB-438E-A199-C59C726E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5775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8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AI implements a specification. It does not select the physics or prove the result.</a:t>
            </a:r>
          </a:p>
        </p:txBody>
      </p:sp>
    </p:spTree>
    <p:extLst>
      <p:ext uri="{BB962C8B-B14F-4D97-AF65-F5344CB8AC3E}">
        <p14:creationId xmlns:p14="http://schemas.microsoft.com/office/powerpoint/2010/main" val="16296395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44B56-EDF3-4F87-BF3D-2750E90C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BLOCK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5785D-4BF9-46F7-B719-3752FAF8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Trim is balance; response follows disturbance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30C3B-A205-4125-A7C8-7C4849EA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1012A-EE52-496B-BB67-2BF3E9CE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6CE5B-E386-46BF-9773-6EE9E3D0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Trimmed condition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795EE-C404-4326-B1AF-3E2A6DCB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095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Net pitching moment is zero at the selected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Trim does not mean the aircraft is stable. It only identifies an equilibrium.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B76A2-FB4E-4FBB-903E-41B88224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8595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B8958-BC7D-4457-8576-90C07E41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Disturbed condition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01AAA-AC39-4D85-B909-80E41374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2197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A gust or control input changes the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Static stability asks for the initial tendency. Dynamic stability asks how the motion evolves with time.</a:t>
            </a:r>
          </a:p>
        </p:txBody>
      </p:sp>
    </p:spTree>
    <p:extLst>
      <p:ext uri="{BB962C8B-B14F-4D97-AF65-F5344CB8AC3E}">
        <p14:creationId xmlns:p14="http://schemas.microsoft.com/office/powerpoint/2010/main" val="272473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CF51C-FB58-4169-859A-61A80587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BLOCK 1 PHYSICS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1FBBA-8017-4D1C-9D97-5C7A6D88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Pitching-moment slope reveals the restoring 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161A7-7C9C-4DE2-B8DD-F583B605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4954E-0525-4DED-909C-E4FF2AE2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41424-AF8C-4E0F-B30A-2111342B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rPr>
              <a:t>Cm = Cm0 + Cmα 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08EAE-5989-4D44-A1CF-DD084E75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αtrim = −Cm0 / Cmα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B761A-8F4C-420E-8E42-67F81444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48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Default 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376C2-828D-486E-946D-EA8A16F0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4476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Cm0 = 0.04</a:t>
            </a:r>
          </a:p>
          <a:p xmlns:a="http://schemas.openxmlformats.org/drawingml/2006/main">
            <a:pPr algn="l">
              <a:defRPr sz="172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Cmα = −0.8 rad⁻¹</a:t>
            </a:r>
          </a:p>
          <a:p xmlns:a="http://schemas.openxmlformats.org/drawingml/2006/main">
            <a:pPr algn="l">
              <a:defRPr sz="172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αtrim = 0.050 rad = 2.86°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715000" y="1809750"/>
          <a:ext xmlns:a="http://schemas.openxmlformats.org/drawingml/2006/main" cx="5524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52d70a271e4c6b"/>
          </a:graphicData>
        </a:graphic>
      </p:graphicFrame>
    </p:spTree>
    <p:extLst>
      <p:ext uri="{BB962C8B-B14F-4D97-AF65-F5344CB8AC3E}">
        <p14:creationId xmlns:p14="http://schemas.microsoft.com/office/powerpoint/2010/main" val="13687419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AE14C-EB1D-4B2F-B624-B59BFD56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BUILD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A63E5-4972-4109-80B6-8D6C8648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Build a trim-response feature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F1CDA-40CA-49A8-AB60-9B3F6798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98098-2470-4342-9092-9299ECDC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3F7B9-B378-4E0E-A761-21DCE4DA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ENGINEERING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FC551-F2C8-48E5-8370-5A3CC002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9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Is the selected condition trimmed, and does a positive angle-of-attack disturbance create an opposing moment tendency?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01158-8B65-4FDF-9A38-B676CE15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Verification before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04347-5E97-49EF-A841-B1DBC95D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533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• Manual trim-angle calculation</a:t>
            </a:r>
          </a:p>
          <a:p xmlns:a="http://schemas.openxmlformats.org/drawingml/2006/main">
            <a:pPr algn="l">
              <a:def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• Positive disturbance changes Cm with the slope sign</a:t>
            </a:r>
          </a:p>
          <a:p xmlns:a="http://schemas.openxmlformats.org/drawingml/2006/main">
            <a:pPr algn="l">
              <a:def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• Zero slope produces no restoring tendency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0316D8-06AA-4956-9AF8-3047AFC5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5C453-4F37-43B2-9812-998C0904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0507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src/student/physics/trim-response.js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DCCE4-4DCC-462F-9C2D-91F16668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90875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A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93F587-414B-465B-9C9A-FFD2EEEB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6232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src/student/features/trim-response.feature.js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F4639-715B-4B7C-8A52-BB6200D2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E75BF-6A44-4597-A1B0-E7A33DC3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1957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tests/student/trim-response.test.js</a:t>
            </a:r>
          </a:p>
        </p:txBody>
      </p:sp>
    </p:spTree>
    <p:extLst>
      <p:ext uri="{BB962C8B-B14F-4D97-AF65-F5344CB8AC3E}">
        <p14:creationId xmlns:p14="http://schemas.microsoft.com/office/powerpoint/2010/main" val="18122606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A3376-47B7-4351-A82D-C81F90DA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BLOCK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30E0D-2BD7-4C97-AD9C-F566C452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17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Static margin locates CG relative to the neutral 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8832A-63C9-43F2-8A76-656914DF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23929-53C7-4CE7-9484-2D644EE6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103DB-F2B5-4F05-B99F-78101AF8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542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rPr>
              <a:t>SM = (xNP − xCG) / c̄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7721E-A27C-415E-BB9D-60E97B5E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Positive SM: initial restoring tendency</a:t>
            </a:r>
          </a:p>
          <a:p xmlns:a="http://schemas.openxmlformats.org/drawingml/2006/main">
            <a:pPr algn="l">
              <a:defRPr sz="202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Zero SM: neutral point and CG coincide</a:t>
            </a:r>
          </a:p>
          <a:p xmlns:a="http://schemas.openxmlformats.org/drawingml/2006/main">
            <a:pPr algn="l">
              <a:defRPr sz="202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Negative SM: initial divergence tendency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636FA-D47F-40EA-B028-17620BCF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286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5EF29-812A-4722-A902-3A9E3E87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B3A93-8E5A-4C85-B755-3BF6DCEE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F1BAF-223E-4AA7-9408-ADA46671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14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CG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73336-CFD1-4086-9EDA-4F192D6D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14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NP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8768AD-7555-42A6-8F78-BB1CE52F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static margin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0C254C-140A-42C5-9F6B-8227E475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672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Moving CG aft reduces the margin.</a:t>
            </a:r>
          </a:p>
        </p:txBody>
      </p:sp>
    </p:spTree>
    <p:extLst>
      <p:ext uri="{BB962C8B-B14F-4D97-AF65-F5344CB8AC3E}">
        <p14:creationId xmlns:p14="http://schemas.microsoft.com/office/powerpoint/2010/main" val="6587523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2AA07-1A3A-44E2-8D8B-906C0AAA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BLOCK 2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24468-48B7-4B47-ABA0-63243DAF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0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The reference case predicts a 12.5% static margin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2309F-E2E4-4EBC-88C0-8D60D8C3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6455E-2618-485D-BEFA-4EC7E497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5E138-CA1B-4504-9B1A-17FE04C6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3524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xNP = 0.16 m</a:t>
            </a:r>
          </a:p>
          <a:p xmlns:a="http://schemas.openxmlformats.org/drawingml/2006/main">
            <a:pPr algn="l">
              <a:defRPr sz="21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xCG = 0.12 m</a:t>
            </a:r>
          </a:p>
          <a:p xmlns:a="http://schemas.openxmlformats.org/drawingml/2006/main">
            <a:pPr algn="l">
              <a:defRPr sz="21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c̄ = 0.32 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06EBD-2C9B-472B-A112-A87AA0C3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rPr>
              <a:t>SM = (0.16 − 0.12) / 0.32</a:t>
            </a:r>
          </a:p>
          <a:p xmlns:a="http://schemas.openxmlformats.org/drawingml/2006/main">
            <a:pPr algn="l">
              <a:defRPr sz="2325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rPr>
              <a:t>SM = 0.125 = 12.5%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810250" y="1809750"/>
          <a:ext xmlns:a="http://schemas.openxmlformats.org/drawingml/2006/main" cx="5429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484d6d9c8a49ec"/>
          </a:graphicData>
        </a:graphic>
      </p:graphicFrame>
    </p:spTree>
    <p:extLst>
      <p:ext uri="{BB962C8B-B14F-4D97-AF65-F5344CB8AC3E}">
        <p14:creationId xmlns:p14="http://schemas.microsoft.com/office/powerpoint/2010/main" val="3409622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498782-EB30-4089-B9FC-A6796904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BUILD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04243-05B4-4832-84B4-4530F359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Build a static-margin feature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F5935-3A97-4595-A24F-8C67FF20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49E29-5863-4A6C-9BB4-851EFD30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BDF2F-926F-4240-88C8-76D9DBB5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ENGINEERING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D2B69-0789-45F8-BF99-D59B15CE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15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What longitudinal static margin is implied by the selected CG and neutral point?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C34A1-021C-411E-A205-58078BBF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Verification before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BABBE-4586-4BD6-9D0F-64EAE387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533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• Reference case gives 0.125</a:t>
            </a:r>
          </a:p>
          <a:p xmlns:a="http://schemas.openxmlformats.org/drawingml/2006/main">
            <a:pPr algn="l">
              <a:def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• CG at NP gives zero</a:t>
            </a:r>
          </a:p>
          <a:p xmlns:a="http://schemas.openxmlformats.org/drawingml/2006/main">
            <a:pPr algn="l">
              <a:def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• Moving CG aft decreases static margin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8C64F-3073-4097-B45E-56AADB5D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BB91B-E86A-4DE4-A318-E5F496F9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0507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src/student/physics/static-margin.js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03E8B-BBB3-4C71-ABE6-B3B2376F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90875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A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E8AE9-092F-4B54-87D2-603D9BB6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6232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src/student/features/static-margin.feature.js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7774F-DB90-4A73-8814-1BB11BFD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C820C1-5486-4ECF-B2F6-25FECB29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1957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tests/student/static-margin.test.js</a:t>
            </a:r>
          </a:p>
        </p:txBody>
      </p:sp>
    </p:spTree>
    <p:extLst>
      <p:ext uri="{BB962C8B-B14F-4D97-AF65-F5344CB8AC3E}">
        <p14:creationId xmlns:p14="http://schemas.microsoft.com/office/powerpoint/2010/main" val="2146256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96B3ED-6478-4201-AFCB-70EB0607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BLOCK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0C48A-6224-4030-B38E-A7C75C8E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Loaded CG is a mass-weighted location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68B0C-45D9-4874-B2BA-70AD87CB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A5C3F-A267-4CEB-8A25-44FC14A1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A321B-FC21-4B11-8538-92027DD5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714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rPr>
              <a:t>xloaded = (mairframe xairframe + mpayload xpayload) / (mairframe + mpayload)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B6821-C149-469B-A149-F5E3B1F9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962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4E869-E203-42B8-8A49-5879CB2C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90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329FA-9E00-45EF-AA78-1BFA086A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76750"/>
            <a:ext cx="129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Forward limit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55AC7-7A28-4DBF-964D-8F32F8C5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532C0-B165-451A-B1FB-7337C215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76750"/>
            <a:ext cx="129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Airframe CG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894ED2-E5CA-42BB-8849-4EFF547B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90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6637A-2EA6-4F4B-B04D-9CA455B8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76750"/>
            <a:ext cx="129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Loaded CG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630D7-2E38-4DB8-B925-30F533B7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90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2C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A731C-72FD-4436-A8B2-5B9F8787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76750"/>
            <a:ext cx="129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Payload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384F5-FD71-4AD1-B739-0A7EAD02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90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C17B1E-54B9-46BE-A865-71E3CF01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0"/>
            <a:ext cx="129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Aft limit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FC4BDF-C8E0-4431-9D45-143B97C6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8162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52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The payload changes total mass and moment about the datum.</a:t>
            </a:r>
          </a:p>
        </p:txBody>
      </p:sp>
    </p:spTree>
    <p:extLst>
      <p:ext uri="{BB962C8B-B14F-4D97-AF65-F5344CB8AC3E}">
        <p14:creationId xmlns:p14="http://schemas.microsoft.com/office/powerpoint/2010/main" val="14909036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3CB28-FBE6-4553-BCE6-A36F3357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BLOCK 3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4B9E2-BB5C-4D64-9ACB-3307D96D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7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The loading calculation must agree with two limiting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D5282-A2F3-4C63-8831-5266372C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C647A-DE29-4431-B850-ADED7C6C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F3408-D52F-44DC-AB2C-1FD6597C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Reference calculation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35B69-8DFC-4F6B-BD89-41FE1BC4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095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mairframe = 1.35 kg at 0.11 m</a:t>
            </a:r>
          </a:p>
          <a:p xmlns:a="http://schemas.openxmlformats.org/drawingml/2006/main">
            <a:pPr algn="l">
              <a:def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mpayload = 0.25 kg at 0.20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xloaded = 0.1241 m</a:t>
            </a:r>
          </a:p>
          <a:p xmlns:a="http://schemas.openxmlformats.org/drawingml/2006/main">
            <a:pPr algn="l">
              <a:def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Limits: 0.09 m to 0.16 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5DBE6-9F23-49A1-8724-52A82838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8595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56B85-671D-48F6-91CD-BF470E8A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Behavioral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670F9-2336-43D4-B13D-E84C8C00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2197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Zero payload → loaded CG equals airframe CG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Move payload aft → loaded CG moves aft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CG exactly on a limit → zero limit margin</a:t>
            </a:r>
          </a:p>
        </p:txBody>
      </p:sp>
    </p:spTree>
    <p:extLst>
      <p:ext uri="{BB962C8B-B14F-4D97-AF65-F5344CB8AC3E}">
        <p14:creationId xmlns:p14="http://schemas.microsoft.com/office/powerpoint/2010/main" val="18393265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A31E3F-9206-427D-8D9F-DCEAFD43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BUILD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58A90-B321-458A-9D97-44656A50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Build a CG-loading feature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D9F88-18BD-4B8D-B458-D59F6644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CF4E9-B79A-4EAA-94DB-4E0044B5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E5DE1-DF77-4787-B4A0-3897CE0A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ENGINEERING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D20AA-DB01-4DB9-99D9-F62C7A37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Where is the loaded CG, and is it inside the introductory loading limits?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4C096-1500-4AAE-B3FC-BE819172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Verification before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5A8B9-7E92-4135-A5D7-BD53482E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533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• Reference case gives 0.1241 m</a:t>
            </a:r>
          </a:p>
          <a:p xmlns:a="http://schemas.openxmlformats.org/drawingml/2006/main">
            <a:pPr algn="l">
              <a:def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• Zero payload returns airframe CG</a:t>
            </a:r>
          </a:p>
          <a:p xmlns:a="http://schemas.openxmlformats.org/drawingml/2006/main">
            <a:pPr algn="l">
              <a:def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• Moving payload aft moves loaded CG aft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56AFA-B7AB-474B-9381-F3EFD6DB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DCDBA-44B2-41D8-B250-9FD88ECD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0507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src/student/physics/cg-loading.js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2A851-C5EB-4DB1-B49E-0FAF454A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90875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A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221AAF-F3CC-46F1-8A7A-6F579FE6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6232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src/student/features/cg-loading.feature.js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A9F8D-A0A7-465C-86EE-3DD9BBF8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B51389-7BF2-4DBF-A987-1F953F2D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1957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tests/student/cg-loading.test.js</a:t>
            </a:r>
          </a:p>
        </p:txBody>
      </p:sp>
    </p:spTree>
    <p:extLst>
      <p:ext uri="{BB962C8B-B14F-4D97-AF65-F5344CB8AC3E}">
        <p14:creationId xmlns:p14="http://schemas.microsoft.com/office/powerpoint/2010/main" val="15928516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E9947-080E-41E3-9741-3123A83B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BLOCK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2FF5A-5452-4D9D-957A-5A2E8F57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72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Dynamic stability asks whether motion decays with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D331B-A966-48BE-AA00-235FB23A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848E6-CCF6-40A2-BF91-62342FF8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90B3A-A13F-4A24-ADA1-6B7E1923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Static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7FF8E-63B1-47D8-99D9-9E755779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095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Immediately after a disturbance, is the tendency restoring, neutral, or diverging?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87A12-325A-45A1-ADC0-1FCA1166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8595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3BB0D-953E-4CFC-A4BC-2DF6AEA7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Dynamic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BBAA0-F659-4FA4-83B8-64FF12A1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2197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Does the resulting motion decay, persist, or grow—and how quickly does it oscillate?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45C23-87A3-40F4-A8F7-1A86A9D5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86375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83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A restoring initial tendency does not guarantee an acceptable time response.</a:t>
            </a:r>
          </a:p>
        </p:txBody>
      </p:sp>
    </p:spTree>
    <p:extLst>
      <p:ext uri="{BB962C8B-B14F-4D97-AF65-F5344CB8AC3E}">
        <p14:creationId xmlns:p14="http://schemas.microsoft.com/office/powerpoint/2010/main" val="3143742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A2105-24AB-4561-B2B1-6E8D19F3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BLOCK 4 PHYSICS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2F491-F8D4-4102-AED0-6E9DE76D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057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A complex eigenvalue captures decay and oscillation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9E0DD-AAA8-4342-B2D0-9AFF955E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DB841-A03F-4652-BC64-0A2A6798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51491-0585-4BDE-8BFF-F01C4CF1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rPr>
              <a:t>λ = σ ± iωd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391B1-B618-47C1-9094-5EFE1B25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ωn = √(σ² + ωd²)</a:t>
            </a:r>
          </a:p>
          <a:p xmlns:a="http://schemas.openxmlformats.org/drawingml/2006/main">
            <a:pPr algn="l">
              <a:defRPr sz="25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ζ = −σ / ωn</a:t>
            </a:r>
          </a:p>
          <a:p xmlns:a="http://schemas.openxmlformats.org/drawingml/2006/main">
            <a:pPr algn="l">
              <a:defRPr sz="25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T = 2π / |ωd|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5524C-4BD1-4969-98FC-6E087652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σ &lt; 0 decays     σ = 0 persists     σ &gt; 0 grows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810250" y="1809750"/>
          <a:ext xmlns:a="http://schemas.openxmlformats.org/drawingml/2006/main" cx="5429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c8653d821f4781"/>
          </a:graphicData>
        </a:graphic>
      </p:graphicFrame>
    </p:spTree>
    <p:extLst>
      <p:ext uri="{BB962C8B-B14F-4D97-AF65-F5344CB8AC3E}">
        <p14:creationId xmlns:p14="http://schemas.microsoft.com/office/powerpoint/2010/main" val="8095196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1323F-19FB-4CAF-9FE5-4C2A8DFD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BLOCK 4 CALCULATION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3D2A8-94C1-4713-B224-718C62BD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95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The default mode decays—but that is not the final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265EB-345F-44B3-9CD1-5CCFC04F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BC487-3502-4FD1-B13D-6573C824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B6E25-AE02-4D27-88E6-99063FDE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σ = −0.6 s⁻¹     ωd = 2.4 rad/s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E194C-BCB2-4277-B5C3-521EB9C2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rPr>
              <a:t>ωn = 2.474 rad/s</a:t>
            </a:r>
          </a:p>
          <a:p xmlns:a="http://schemas.openxmlformats.org/drawingml/2006/main">
            <a:pPr algn="l">
              <a:defRPr sz="2325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rPr>
              <a:t>ζ = 0.243</a:t>
            </a:r>
          </a:p>
          <a:p xmlns:a="http://schemas.openxmlformats.org/drawingml/2006/main">
            <a:pPr algn="l">
              <a:defRPr sz="2325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rPr>
              <a:t>T = 2.618 s</a:t>
            </a:r>
          </a:p>
          <a:p xmlns:a="http://schemas.openxmlformats.org/drawingml/2006/main">
            <a:pPr algn="l">
              <a:defRPr sz="2325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rPr>
              <a:t>Half-amplitude time = 1.155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D9930-7F4B-4F54-B735-ABAFA1E5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Interpretation still requires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33130-0419-4892-A721-E6761FC8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• Is the response fast enough?</a:t>
            </a:r>
          </a:p>
          <a:p xmlns:a="http://schemas.openxmlformats.org/drawingml/2006/main">
            <a:pPr algn="l">
              <a:defRPr sz="19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• Is oscillation acceptable?</a:t>
            </a:r>
          </a:p>
          <a:p xmlns:a="http://schemas.openxmlformats.org/drawingml/2006/main">
            <a:pPr algn="l">
              <a:defRPr sz="19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• What control action is available?</a:t>
            </a:r>
          </a:p>
          <a:p xmlns:a="http://schemas.openxmlformats.org/drawingml/2006/main">
            <a:pPr algn="l">
              <a:defRPr sz="19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• What workload does the mission allow?</a:t>
            </a:r>
          </a:p>
        </p:txBody>
      </p:sp>
    </p:spTree>
    <p:extLst>
      <p:ext uri="{BB962C8B-B14F-4D97-AF65-F5344CB8AC3E}">
        <p14:creationId xmlns:p14="http://schemas.microsoft.com/office/powerpoint/2010/main" val="14591596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57A87-F3F8-4644-ACCE-F5904195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BUILD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9B316-241B-483F-B1BE-4A9833BC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Build a dynamic-mode feature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8C045-6DBE-4EF6-B6B0-6FB5785F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F9FA9-94F8-410D-B4AD-2D406EE6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4A7F1-D15B-4A7E-9ED5-99533263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ENGINEERING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DB084-C992-41EC-B2BC-EF0E0E37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15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Does the supplied oscillatory mode decay or grow, and what are its introductory modal properties?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6BF03-762B-4C38-9253-8CF57BF2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Verification before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5F6B4-0A61-41A5-9121-698ED4FC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533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• Negative σ produces decay</a:t>
            </a:r>
          </a:p>
          <a:p xmlns:a="http://schemas.openxmlformats.org/drawingml/2006/main">
            <a:pPr algn="l">
              <a:def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• Positive σ produces growth</a:t>
            </a:r>
          </a:p>
          <a:p xmlns:a="http://schemas.openxmlformats.org/drawingml/2006/main">
            <a:pPr algn="l">
              <a:def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• Period follows 2π/|ωd|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84F66-0E1F-405D-BE9F-CE72CC94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BA345-78A6-4529-BFA0-8B747A92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0507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src/student/physics/dynamic-mode.js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3B7C3-B6C7-4ACC-B759-20617FF5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90875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A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564C0-7C70-40C4-AFF4-4A096D6F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6232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src/student/features/dynamic-mode.feature.js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D444A-36B1-40E6-A1FD-B5CCE336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0C84A-0FB1-4ABB-B6EE-5999E66B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1957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tests/student/dynamic-mode.test.js</a:t>
            </a:r>
          </a:p>
        </p:txBody>
      </p:sp>
    </p:spTree>
    <p:extLst>
      <p:ext uri="{BB962C8B-B14F-4D97-AF65-F5344CB8AC3E}">
        <p14:creationId xmlns:p14="http://schemas.microsoft.com/office/powerpoint/2010/main" val="16228843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1FD4F-F045-4C55-8F57-6932F2F5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BLOCK 5 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732EE-A956-4DEF-8284-D7D410A8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5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The payload moves aft; the stability margin shrinks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D1FF5-9789-4A3B-85C7-89D856D2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B9A15-B412-4BDE-8D13-9E4E154B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72604-81CF-489C-9B22-C638A609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104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EFB4A-78AC-428B-875A-836FC34D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Initial payload station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BBED8-901F-4D8E-A572-79B6D505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717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0.10 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D2C70-8C34-48B9-8653-91CB82AD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717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7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Loaded CG 0.1084 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14BD7-FACD-4A65-BCCB-10846EA3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717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rPr>
              <a:t>SM 16.1%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23287-6BEC-4078-BF02-E0BBB5D8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1104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A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366C5-D233-438D-A34D-EF74F358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Mission payload station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35E79-902C-46C6-B2A4-81EA047D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386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0.24 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611F0-3B34-4BB9-8F3E-DB72DB5F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7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Loaded CG 0.1303 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0F1C7-C06D-4D66-8F67-47096E16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386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rPr>
              <a:t>SM 9.3%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2124C-1298-4CC8-A66B-FD24BFD6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265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The case remains inside the introductory limits—but with less aft margin and less static margin.</a:t>
            </a:r>
          </a:p>
        </p:txBody>
      </p:sp>
    </p:spTree>
    <p:extLst>
      <p:ext uri="{BB962C8B-B14F-4D97-AF65-F5344CB8AC3E}">
        <p14:creationId xmlns:p14="http://schemas.microsoft.com/office/powerpoint/2010/main" val="10491284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DD2958-D1AA-44C3-BC0D-C8032105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ENGINEERING JUDGMENT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DFE78-017C-40BD-BAB4-A39E32D8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A mission decision needs more than a PASS label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1D302-9EB3-4DED-BC41-89342CC7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CF22C-CD55-4128-9732-488E6638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70B24-4AC0-428E-87B5-9E75F9BF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RESTORING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54677-F32A-4E88-95DF-9444BC6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075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Is static margin still positive?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E3482-AD3A-43EB-8911-8BFAD853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478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CBE65-532E-45E0-9F3F-7F4D26B7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05075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Can available control moment trim and maneuver?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BDF5A-8E2C-444B-8039-75EEDCE0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478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LIMITS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8BD66-FF77-4577-9E56-B35BBB30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05075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How close is loaded CG to the aft boundary?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1C1BD-95B3-4F09-AE5B-679F80C1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WORKLOAD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1582F-C7AA-485A-81DE-47D8DFB1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14825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Is the dynamic response acceptable for the operator?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E52A8-34F4-4EEF-8FF5-90C2C252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576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MISSION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9CE00-F191-45C0-A988-3690D73B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14825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Can the payload remain forward or be restrained?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ABFBE-5E68-4262-94B0-A897B22D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576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VALIDITY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6AB9C-681F-4980-A292-A18A0A61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14825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99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Where does the simple model stop being trustworthy?</a:t>
            </a:r>
          </a:p>
        </p:txBody>
      </p:sp>
    </p:spTree>
    <p:extLst>
      <p:ext uri="{BB962C8B-B14F-4D97-AF65-F5344CB8AC3E}">
        <p14:creationId xmlns:p14="http://schemas.microsoft.com/office/powerpoint/2010/main" val="11690273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D62ED-074E-4ABB-9F53-B0F5A58C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BUILD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4DCFD-ADD0-461A-A99D-903A84A8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Build a mission-loading feature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04236-3285-4C1A-8AAD-545CA891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0562F-0B66-4F12-92F1-EC10DA04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DF738-A9C9-4FBF-9B78-1B24BA19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ENGINEERING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9BAE0-BE7F-4D3A-A70D-D87E7E71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After the payload moves aft, do loading limits and positive static margin remain—and what mission decision follows?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F5263-D047-4A33-8D30-D0872EC2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Verification before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C4049-988F-472A-BF13-40ADAB74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533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• Initial and mission CG calculations</a:t>
            </a:r>
          </a:p>
          <a:p xmlns:a="http://schemas.openxmlformats.org/drawingml/2006/main">
            <a:pPr algn="l">
              <a:def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• Aft movement cannot move CG forward</a:t>
            </a:r>
          </a:p>
          <a:p xmlns:a="http://schemas.openxmlformats.org/drawingml/2006/main">
            <a:pPr algn="l">
              <a:def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• Decision discusses limits and model validity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24FDD-4ED9-49DB-B1FB-0D50F21C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D029F-BD7F-4566-A12A-E546D4AD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0507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src/student/physics/mission-loading.js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BDD5A-4736-47F4-8B70-032C134F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90875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A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E692F-6F5A-44DE-8988-DF8027DD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6232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src/student/features/mission-loading.feature.js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A8D38-370A-468A-9979-4570DFDF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753CF-B63E-4AF9-9FF3-DC69F5B4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1957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tests/student/mission-loading.test.js</a:t>
            </a:r>
          </a:p>
        </p:txBody>
      </p:sp>
    </p:spTree>
    <p:extLst>
      <p:ext uri="{BB962C8B-B14F-4D97-AF65-F5344CB8AC3E}">
        <p14:creationId xmlns:p14="http://schemas.microsoft.com/office/powerpoint/2010/main" val="10035329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AB82D-561F-4404-AD53-7E432421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STUDENT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A3642-D0CD-4679-8B2F-9565FABD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5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One completed specification is the entire AI request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DBC32-8D4B-4CC1-B37E-73CD926B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E5792-8188-4AFD-85E3-8985D1D1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7CFB1-51B9-42E6-A1E4-C7501A02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Before ChatGPT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46877-C204-4A9B-BFF5-C207B242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095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Complete Sections 1–12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Show a manual reference calculation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Define numerical, behavioral, and boundary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Name the exact three 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721B2-3B61-4782-B7ED-67630751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8595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A8F1B-DA3B-471B-9430-37048D3C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In ordinary ChatGPT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5835C-3752-4466-8068-E688B94E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2197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Attach the completed FEATURE-SPEC.md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Ask: “Generate the feature described in this completed specification.”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Save the three complete files exactly where specified</a:t>
            </a:r>
          </a:p>
        </p:txBody>
      </p:sp>
    </p:spTree>
    <p:extLst>
      <p:ext uri="{BB962C8B-B14F-4D97-AF65-F5344CB8AC3E}">
        <p14:creationId xmlns:p14="http://schemas.microsoft.com/office/powerpoint/2010/main" val="100345972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553DA-8343-488F-A970-DE5413E8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E08BD-F74A-4206-A432-2BBFAF0B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Passing tests is evidence—not physical truth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71239-18E9-4F72-A665-ACF9253D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A1C99-DC4B-4DCD-8091-E1F87149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56CBC-FB48-4F61-A94B-673FA0B4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BD27A-58A5-4222-8B91-32F30793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SOFTWARE CORRECTNESS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4B075-4DB4-444F-8B2B-44FA8C15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Does the function match known cases?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733E0-A8B0-44C7-AED9-FB9D4C24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33700"/>
            <a:ext cx="876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164F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429AC-3FEE-4626-9AF5-E3100EDD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765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64F45"/>
                </a:solidFill>
                <a:latin typeface="Helvetica Neue"/>
                <a:ea typeface="Helvetica Neue"/>
                <a:cs typeface="Helvetica Neue"/>
              </a:rPr>
              <a:t>MODEL CORRECTNESS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6662F-1F7A-4C57-BEA7-2ABC90EF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765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Was the intended equation implemented?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0BB0B-7C75-48A5-BCB6-A5B5B74F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14775"/>
            <a:ext cx="790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FF5A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977A6-2F73-475A-8C12-417C5EA0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576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MODEL VALIDITY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96C4A-C3E2-4AD3-9963-28A3FE3E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Do its assumptions fit this condition?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758F7-A163-4F0C-BBF8-A36086AD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895850"/>
            <a:ext cx="704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A62C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E1441-8C0A-477A-BBD9-CED51F34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387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2C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A62C22"/>
                </a:solidFill>
                <a:latin typeface="Helvetica Neue"/>
                <a:ea typeface="Helvetica Neue"/>
                <a:cs typeface="Helvetica Neue"/>
              </a:rPr>
              <a:t>REAL-WORLD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DBF7B0-E52D-46C6-9DA2-B8672874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3872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Does evidence agree with reality?</a:t>
            </a:r>
          </a:p>
        </p:txBody>
      </p:sp>
    </p:spTree>
    <p:extLst>
      <p:ext uri="{BB962C8B-B14F-4D97-AF65-F5344CB8AC3E}">
        <p14:creationId xmlns:p14="http://schemas.microsoft.com/office/powerpoint/2010/main" val="60794016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A81D3-2C73-43B6-A73B-BCB102F2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B7950-8A68-48D3-B4EF-A01F0800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Your final answer must return to the 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BED51-5BE4-4E2C-AAE9-B2A6E373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A7B20-7687-45C9-B9B1-8F4AB520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06B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B77DA-54E9-4E49-81A5-E9318E80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The payload moved aft.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6244E-D802-4560-AEA6-C2810375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6000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What changed?</a:t>
            </a:r>
          </a:p>
          <a:p xmlns:a="http://schemas.openxmlformats.org/drawingml/2006/main">
            <a:pPr algn="l">
              <a:defRPr sz="25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What evidence do you trust?</a:t>
            </a:r>
          </a:p>
          <a:p xmlns:a="http://schemas.openxmlformats.org/drawingml/2006/main">
            <a:pPr algn="l">
              <a:defRPr sz="25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What remains uncertain?</a:t>
            </a:r>
          </a:p>
          <a:p xmlns:a="http://schemas.openxmlformats.org/drawingml/2006/main">
            <a:pPr algn="l">
              <a:defRPr sz="25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rPr>
              <a:t>What should the operator do?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C52C7-9F32-4FCB-A079-17BF05E1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4000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711A2-A8B7-454F-9E61-FE862E04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24125"/>
            <a:ext cx="3143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366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feature is complete only when you can explain the physics, defend the tests, and make a qualified engineering decision.</a:t>
            </a:r>
          </a:p>
        </p:txBody>
      </p:sp>
    </p:spTree>
    <p:extLst>
      <p:ext uri="{BB962C8B-B14F-4D97-AF65-F5344CB8AC3E}">
        <p14:creationId xmlns:p14="http://schemas.microsoft.com/office/powerpoint/2010/main" val="10640558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2026-09-01T02:39:13.1990000Z</dcterms:created>
  <dcterms:modified xsi:type="dcterms:W3CDTF">2026-09-01T02:39:13.1990000Z</dcterms:modified>
</coreProperties>
</file>